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73" r:id="rId7"/>
    <p:sldId id="264" r:id="rId8"/>
    <p:sldId id="265" r:id="rId9"/>
    <p:sldId id="266" r:id="rId10"/>
    <p:sldId id="267" r:id="rId11"/>
    <p:sldId id="268" r:id="rId12"/>
    <p:sldId id="272" r:id="rId13"/>
    <p:sldId id="269" r:id="rId14"/>
    <p:sldId id="270" r:id="rId15"/>
    <p:sldId id="271"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eyash Dubey" initials="SD" lastIdx="1" clrIdx="0">
    <p:extLst>
      <p:ext uri="{19B8F6BF-5375-455C-9EA6-DF929625EA0E}">
        <p15:presenceInfo xmlns:p15="http://schemas.microsoft.com/office/powerpoint/2012/main" userId="66149cefac0caf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26"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commentAuthors" Target="commentAuthor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customschemas.google.com/relationships/presentationmetadata" Target="metadata"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image" Target="../media/image1.jpeg"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srcRect/>
          <a:tile tx="0" ty="0" sx="100000" sy="100000" flip="none" algn="tl"/>
        </a:blip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7.xml" /><Relationship Id="rId1" Type="http://schemas.openxmlformats.org/officeDocument/2006/relationships/slideLayout" Target="../slideLayouts/slideLayout2.xml" /><Relationship Id="rId5" Type="http://schemas.openxmlformats.org/officeDocument/2006/relationships/image" Target="../media/image6.png" /><Relationship Id="rId4" Type="http://schemas.openxmlformats.org/officeDocument/2006/relationships/image" Target="../media/image5.png"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hreythemasterai/college-admission-chatbot.git" TargetMode="External" /><Relationship Id="rId2" Type="http://schemas.openxmlformats.org/officeDocument/2006/relationships/notesSlide" Target="../notesSlides/notesSlide9.xml" /><Relationship Id="rId1" Type="http://schemas.openxmlformats.org/officeDocument/2006/relationships/slideLayout" Target="../slideLayouts/slideLayout2.xml" /><Relationship Id="rId6" Type="http://schemas.openxmlformats.org/officeDocument/2006/relationships/image" Target="../media/image8.png" /><Relationship Id="rId5" Type="http://schemas.openxmlformats.org/officeDocument/2006/relationships/image" Target="../media/image7.jpg" /><Relationship Id="rId4" Type="http://schemas.openxmlformats.org/officeDocument/2006/relationships/hyperlink" Target="https://college-admission-chatbot-nndncs28ay45botepsg59w.streamlit.app/" TargetMode="External" /></Relationships>
</file>

<file path=ppt/slides/_rels/slide11.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5.xml" /></Relationships>
</file>

<file path=ppt/slides/_rels/slide13.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242262003"/>
              </p:ext>
            </p:extLst>
          </p:nvPr>
        </p:nvGraphicFramePr>
        <p:xfrm>
          <a:off x="1102321" y="3738417"/>
          <a:ext cx="9488095" cy="2167125"/>
        </p:xfrm>
        <a:graphic>
          <a:graphicData uri="http://schemas.openxmlformats.org/drawingml/2006/table">
            <a:tbl>
              <a:tblPr>
                <a:noFill/>
                <a:tableStyleId>{F063BE5B-8E01-4B91-9C5C-8479B17E1E5F}</a:tableStyleId>
              </a:tblPr>
              <a:tblGrid>
                <a:gridCol w="1952389">
                  <a:extLst>
                    <a:ext uri="{9D8B030D-6E8A-4147-A177-3AD203B41FA5}">
                      <a16:colId xmlns:a16="http://schemas.microsoft.com/office/drawing/2014/main" val="20000"/>
                    </a:ext>
                  </a:extLst>
                </a:gridCol>
                <a:gridCol w="2514662">
                  <a:extLst>
                    <a:ext uri="{9D8B030D-6E8A-4147-A177-3AD203B41FA5}">
                      <a16:colId xmlns:a16="http://schemas.microsoft.com/office/drawing/2014/main" val="20001"/>
                    </a:ext>
                  </a:extLst>
                </a:gridCol>
                <a:gridCol w="2509142">
                  <a:extLst>
                    <a:ext uri="{9D8B030D-6E8A-4147-A177-3AD203B41FA5}">
                      <a16:colId xmlns:a16="http://schemas.microsoft.com/office/drawing/2014/main" val="20002"/>
                    </a:ext>
                  </a:extLst>
                </a:gridCol>
                <a:gridCol w="2511902">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Shreyash Dubey</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shreyashdubey2007@gmail.com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9028843967</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148277" y="1744269"/>
            <a:ext cx="10280254"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a:t>
            </a:r>
            <a:r>
              <a:rPr lang="en-US" sz="2800" b="1" i="0" u="none" strike="noStrike" cap="none" dirty="0">
                <a:solidFill>
                  <a:srgbClr val="000000"/>
                </a:solidFill>
                <a:highlight>
                  <a:srgbClr val="FFFF00"/>
                </a:highlight>
                <a:latin typeface="Arial"/>
                <a:ea typeface="Arial"/>
                <a:cs typeface="Arial"/>
                <a:sym typeface="Arial"/>
              </a:rPr>
              <a:t>Factors related to College Admission Process</a:t>
            </a:r>
            <a:r>
              <a:rPr lang="en-US" sz="2800" b="1" dirty="0">
                <a:highlight>
                  <a:srgbClr val="FFFF00"/>
                </a:highlight>
              </a:rPr>
              <a:t> </a:t>
            </a:r>
            <a:r>
              <a:rPr lang="en-US" sz="2800" b="1" i="0" u="none" strike="noStrike" cap="none" dirty="0">
                <a:solidFill>
                  <a:srgbClr val="000000"/>
                </a:solidFill>
                <a:highlight>
                  <a:srgbClr val="FFFF00"/>
                </a:highlight>
                <a:latin typeface="Arial"/>
                <a:ea typeface="Arial"/>
                <a:cs typeface="Arial"/>
                <a:sym typeface="Arial"/>
              </a:rPr>
              <a:t> </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a:t>
            </a:r>
            <a:r>
              <a:rPr lang="en-US" sz="2400" b="1" dirty="0"/>
              <a:t>t</a:t>
            </a:r>
            <a:r>
              <a:rPr lang="en-US" sz="2400" b="1" i="0" u="none" strike="noStrike" cap="none" dirty="0">
                <a:solidFill>
                  <a:srgbClr val="000000"/>
                </a:solidFill>
                <a:latin typeface="Arial"/>
                <a:ea typeface="Arial"/>
                <a:cs typeface="Arial"/>
                <a:sym typeface="Arial"/>
              </a:rPr>
              <a:t>le – </a:t>
            </a:r>
            <a:r>
              <a:rPr lang="en-US" sz="2400" b="1" i="0" u="none" strike="noStrike" cap="none" dirty="0">
                <a:solidFill>
                  <a:srgbClr val="000000"/>
                </a:solidFill>
                <a:highlight>
                  <a:srgbClr val="FFFF00"/>
                </a:highlight>
                <a:latin typeface="Arial"/>
                <a:ea typeface="Arial"/>
                <a:cs typeface="Arial"/>
                <a:sym typeface="Arial"/>
              </a:rPr>
              <a:t>[</a:t>
            </a:r>
            <a:r>
              <a:rPr lang="en-US" sz="2800" b="1" dirty="0">
                <a:solidFill>
                  <a:srgbClr val="002060"/>
                </a:solidFill>
                <a:highlight>
                  <a:srgbClr val="FFFF00"/>
                </a:highlight>
                <a:latin typeface="Times New Roman"/>
                <a:cs typeface="Times New Roman"/>
                <a:sym typeface="Times New Roman"/>
              </a:rPr>
              <a:t>Agentic AI without using IBM bob</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pic>
        <p:nvPicPr>
          <p:cNvPr id="5" name="Picture 4">
            <a:extLst>
              <a:ext uri="{FF2B5EF4-FFF2-40B4-BE49-F238E27FC236}">
                <a16:creationId xmlns:a16="http://schemas.microsoft.com/office/drawing/2014/main" id="{B1D147A3-B959-A85A-5087-A0921BCE3087}"/>
              </a:ext>
            </a:extLst>
          </p:cNvPr>
          <p:cNvPicPr>
            <a:picLocks noChangeAspect="1"/>
          </p:cNvPicPr>
          <p:nvPr/>
        </p:nvPicPr>
        <p:blipFill>
          <a:blip r:embed="rId3"/>
          <a:stretch>
            <a:fillRect/>
          </a:stretch>
        </p:blipFill>
        <p:spPr>
          <a:xfrm>
            <a:off x="3616427" y="4673846"/>
            <a:ext cx="1339031" cy="1182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268909" cy="4708941"/>
          </a:xfrm>
          <a:prstGeom prst="rect">
            <a:avLst/>
          </a:prstGeom>
          <a:noFill/>
          <a:ln>
            <a:noFill/>
          </a:ln>
        </p:spPr>
        <p:txBody>
          <a:bodyPr spcFirstLastPara="1" wrap="square" lIns="91425" tIns="45700" rIns="91425" bIns="45700" anchor="t" anchorCtr="0">
            <a:spAutoFit/>
          </a:bodyPr>
          <a:lstStyle/>
          <a:p>
            <a:pPr lvl="0">
              <a:lnSpc>
                <a:spcPct val="150000"/>
              </a:lnSpc>
            </a:pPr>
            <a:r>
              <a:rPr lang="en-US" sz="2000" b="1" dirty="0">
                <a:solidFill>
                  <a:sysClr val="windowText" lastClr="000000"/>
                </a:solidFill>
              </a:rPr>
              <a:t>Problem Statement No.4 - College Admission Agent ( RAG Based ) The Challenge - A College Admission Agent, powered by RAG (Retrieval-Augmented Generation),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 This AI-driven assistant boosts transparency, accessibility, and efficiency in college admissions.</a:t>
            </a:r>
            <a:endParaRPr sz="2000" b="0" i="0" u="none" strike="noStrike" cap="none" dirty="0">
              <a:solidFill>
                <a:sysClr val="windowText" lastClr="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sng" strike="noStrike" cap="none" dirty="0">
                <a:solidFill>
                  <a:srgbClr val="000000"/>
                </a:solidFill>
                <a:latin typeface="Arial"/>
                <a:ea typeface="Arial"/>
                <a:cs typeface="Arial"/>
                <a:sym typeface="Arial"/>
              </a:rPr>
              <a:t>Problem Statement </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4893607"/>
          </a:xfrm>
          <a:prstGeom prst="rect">
            <a:avLst/>
          </a:prstGeom>
          <a:noFill/>
          <a:ln>
            <a:noFill/>
          </a:ln>
        </p:spPr>
        <p:txBody>
          <a:bodyPr spcFirstLastPara="1" wrap="square" lIns="91425" tIns="45700" rIns="91425" bIns="45700" anchor="t" anchorCtr="0">
            <a:spAutoFit/>
          </a:bodyPr>
          <a:lstStyle/>
          <a:p>
            <a:pPr lvl="0"/>
            <a:r>
              <a:rPr lang="en-US" sz="2400" b="1" dirty="0"/>
              <a:t>The proposed solution is a Retrieval-Augmented Generation (RAG) chatbot built using IBM watsonx.ai and </a:t>
            </a:r>
            <a:r>
              <a:rPr lang="en-US" sz="2400" b="1" dirty="0" err="1"/>
              <a:t>LangChain</a:t>
            </a:r>
            <a:r>
              <a:rPr lang="en-US" sz="2400" b="1" dirty="0"/>
              <a:t> . Instead of relying solely on a language model, the chatbot first searches a vector database created from the uploaded PDF. The retrieved information is then provided to the Llama 3.3 model, which generates an accurate and context-aware response. This approach minimizes hallucinations and ensures responses remain relevant to the uploaded knowledge base. this project is to develop an AI-based chatbot that provides instant and reliable answers to students' admission-related queries. The chatbot retrieves relevant information from an official college guide PDF instead of generating random responses. It aims to reduce students' effort, improve accessibility to admission information, and provide a user-friendly interface that can be accessed from anywhere.</a:t>
            </a:r>
            <a:endParaRPr sz="2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438617"/>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sng" strike="noStrike" cap="none" dirty="0">
                <a:solidFill>
                  <a:srgbClr val="000000"/>
                </a:solidFill>
                <a:latin typeface="Arial"/>
                <a:ea typeface="Arial"/>
                <a:cs typeface="Arial"/>
                <a:sym typeface="Arial"/>
              </a:rPr>
              <a:t>Proposed Solution </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295458" y="150335"/>
            <a:ext cx="7241655"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sng" strike="noStrike" cap="none" dirty="0">
                <a:solidFill>
                  <a:srgbClr val="000000"/>
                </a:solidFill>
                <a:latin typeface="Arial"/>
                <a:ea typeface="Arial"/>
                <a:cs typeface="Arial"/>
                <a:sym typeface="Arial"/>
              </a:rPr>
              <a:t>Technology Used :</a:t>
            </a:r>
            <a:endParaRPr sz="2800" b="1" i="0" u="sng" strike="noStrike" cap="none" dirty="0">
              <a:solidFill>
                <a:srgbClr val="000000"/>
              </a:solidFill>
              <a:latin typeface="Arial"/>
              <a:ea typeface="Arial"/>
              <a:cs typeface="Arial"/>
              <a:sym typeface="Arial"/>
            </a:endParaRPr>
          </a:p>
        </p:txBody>
      </p:sp>
      <p:sp>
        <p:nvSpPr>
          <p:cNvPr id="108" name="Google Shape;108;p36"/>
          <p:cNvSpPr txBox="1"/>
          <p:nvPr/>
        </p:nvSpPr>
        <p:spPr>
          <a:xfrm>
            <a:off x="295458" y="612000"/>
            <a:ext cx="11896541" cy="6278601"/>
          </a:xfrm>
          <a:prstGeom prst="rect">
            <a:avLst/>
          </a:prstGeom>
          <a:noFill/>
          <a:ln>
            <a:noFill/>
          </a:ln>
        </p:spPr>
        <p:txBody>
          <a:bodyPr spcFirstLastPara="1" wrap="square" lIns="91425" tIns="45700" rIns="91425" bIns="45700" anchor="t" anchorCtr="0">
            <a:spAutoFit/>
          </a:bodyPr>
          <a:lstStyle/>
          <a:p>
            <a:pPr marL="180000" lvl="0" indent="-216000">
              <a:lnSpc>
                <a:spcPct val="150000"/>
              </a:lnSpc>
              <a:buSzPts val="1800"/>
              <a:buFont typeface="Arial"/>
              <a:buChar char="•"/>
            </a:pPr>
            <a:r>
              <a:rPr lang="en-US" b="1" u="sng" dirty="0" err="1"/>
              <a:t>Streamlit</a:t>
            </a:r>
            <a:r>
              <a:rPr lang="en-US" b="1" dirty="0"/>
              <a:t> – Used to build the interactive web interface for the chatbot. It provides a simple, responsive, and user-friendly platform where students can ask admission-related questions and receive AI-generated answers in real time.</a:t>
            </a:r>
          </a:p>
          <a:p>
            <a:pPr marL="180000" lvl="0" indent="-216000">
              <a:lnSpc>
                <a:spcPct val="150000"/>
              </a:lnSpc>
              <a:buSzPts val="1800"/>
              <a:buFont typeface="Arial"/>
              <a:buChar char="•"/>
            </a:pPr>
            <a:r>
              <a:rPr lang="en-US" b="1" u="sng" dirty="0"/>
              <a:t>IBM watsonx.ai</a:t>
            </a:r>
            <a:r>
              <a:rPr lang="en-US" b="1" dirty="0"/>
              <a:t> (Meta Llama 3.3) – Used as the Large Language Model (LLM) for generating intelligent, context-aware responses. The Meta Llama 3.3 model understands user queries and produces detailed answers using the retrieved information.</a:t>
            </a:r>
          </a:p>
          <a:p>
            <a:pPr marL="180000" lvl="0" indent="-216000">
              <a:lnSpc>
                <a:spcPct val="150000"/>
              </a:lnSpc>
              <a:buSzPts val="1800"/>
              <a:buFont typeface="Arial"/>
              <a:buChar char="•"/>
            </a:pPr>
            <a:r>
              <a:rPr lang="en-US" b="1" u="sng" dirty="0"/>
              <a:t>IBM Cloud </a:t>
            </a:r>
            <a:r>
              <a:rPr lang="en-US" b="1" dirty="0"/>
              <a:t>– Provides the cloud infrastructure for hosting and managing the AI model securely. It ensures reliable, scalable, and high-performance execution of the chatbot application.</a:t>
            </a:r>
          </a:p>
          <a:p>
            <a:pPr marL="180000" lvl="0" indent="-216000">
              <a:lnSpc>
                <a:spcPct val="150000"/>
              </a:lnSpc>
              <a:buSzPts val="1800"/>
              <a:buFont typeface="Arial"/>
              <a:buChar char="•"/>
            </a:pPr>
            <a:r>
              <a:rPr lang="en-US" b="1" u="sng" dirty="0" err="1"/>
              <a:t>LangChain</a:t>
            </a:r>
            <a:r>
              <a:rPr lang="en-US" b="1" dirty="0"/>
              <a:t> – Acts as the orchestration framework that connects the language model with the vector database. It manages document retrieval, prompt construction, and response generation efficiently.</a:t>
            </a:r>
          </a:p>
          <a:p>
            <a:pPr marL="180000" lvl="0" indent="-216000">
              <a:lnSpc>
                <a:spcPct val="150000"/>
              </a:lnSpc>
              <a:buSzPts val="1800"/>
              <a:buFont typeface="Arial"/>
              <a:buChar char="•"/>
            </a:pPr>
            <a:r>
              <a:rPr lang="en-US" b="1" u="sng" dirty="0"/>
              <a:t>Retrieval-Augmented Generation </a:t>
            </a:r>
            <a:r>
              <a:rPr lang="en-US" b="1" dirty="0"/>
              <a:t>(RAG) – Enhances the chatbot by retrieving relevant information from the uploaded college admission guide before generating a response. This improves accuracy, reduces hallucinations, and ensures answers are based on the provided document.</a:t>
            </a:r>
          </a:p>
          <a:p>
            <a:pPr marL="180000" lvl="0" indent="-216000">
              <a:lnSpc>
                <a:spcPct val="150000"/>
              </a:lnSpc>
              <a:buSzPts val="1800"/>
              <a:buFont typeface="Arial"/>
              <a:buChar char="•"/>
            </a:pPr>
            <a:r>
              <a:rPr lang="en-US" b="1" u="sng" dirty="0"/>
              <a:t>FAISS Vector Database </a:t>
            </a:r>
            <a:r>
              <a:rPr lang="en-US" b="1" dirty="0"/>
              <a:t>– Stores embeddings of the admission guide for efficient semantic search. It quickly retrieves the most relevant document chunks corresponding to the user's query.</a:t>
            </a:r>
          </a:p>
          <a:p>
            <a:pPr marL="180000" lvl="0" indent="-216000">
              <a:lnSpc>
                <a:spcPct val="150000"/>
              </a:lnSpc>
              <a:buSzPts val="1800"/>
              <a:buFont typeface="Arial"/>
              <a:buChar char="•"/>
            </a:pPr>
            <a:r>
              <a:rPr lang="en-US" b="1" u="sng" dirty="0"/>
              <a:t>Hugging Face Embeddings </a:t>
            </a:r>
            <a:r>
              <a:rPr lang="en-US" b="1" dirty="0"/>
              <a:t>(all-MiniLM-L6-v2) – Converts the PDF content into dense vector embeddings that capture semantic meaning, enabling accurate similarity search within the FAISS database.</a:t>
            </a:r>
          </a:p>
          <a:p>
            <a:pPr marL="180000" lvl="0" indent="-216000">
              <a:lnSpc>
                <a:spcPct val="150000"/>
              </a:lnSpc>
              <a:buSzPts val="1800"/>
              <a:buFont typeface="Arial"/>
              <a:buChar char="•"/>
            </a:pPr>
            <a:r>
              <a:rPr lang="en-US" b="1" u="sng" dirty="0" err="1"/>
              <a:t>PyPDFLoader</a:t>
            </a:r>
            <a:r>
              <a:rPr lang="en-US" b="1" dirty="0"/>
              <a:t> – Extracts text from the college admission PDF document. It converts the uploaded guide into a format suitable for preprocessing and vectorization.</a:t>
            </a:r>
          </a:p>
          <a:p>
            <a:pPr marL="180000" lvl="0" indent="-216000">
              <a:lnSpc>
                <a:spcPct val="150000"/>
              </a:lnSpc>
              <a:buSzPts val="1800"/>
              <a:buFont typeface="Arial"/>
              <a:buChar char="•"/>
            </a:pPr>
            <a:r>
              <a:rPr lang="en-US" b="1" u="sng" dirty="0"/>
              <a:t>Recursive Character Text Splitter </a:t>
            </a:r>
            <a:r>
              <a:rPr lang="en-US" b="1" dirty="0"/>
              <a:t>– Divides the PDF into smaller overlapping chunks while preserving context. This improves retrieval quality and allows the language model to generate more precise responses</a:t>
            </a:r>
            <a:r>
              <a:rPr lang="en-US" sz="1600" b="1" dirty="0"/>
              <a:t>.</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E657D-4500-C5CC-CA83-B8EEE7C38ACA}"/>
              </a:ext>
            </a:extLst>
          </p:cNvPr>
          <p:cNvSpPr>
            <a:spLocks noGrp="1"/>
          </p:cNvSpPr>
          <p:nvPr>
            <p:ph type="title"/>
          </p:nvPr>
        </p:nvSpPr>
        <p:spPr/>
        <p:txBody>
          <a:bodyPr/>
          <a:lstStyle/>
          <a:p>
            <a:r>
              <a:rPr lang="en-US" b="1" u="sng" dirty="0">
                <a:latin typeface="+mj-lt"/>
              </a:rPr>
              <a:t>Project Overview</a:t>
            </a:r>
            <a:endParaRPr lang="en-IN" b="1" u="sng" dirty="0">
              <a:latin typeface="+mj-lt"/>
            </a:endParaRPr>
          </a:p>
        </p:txBody>
      </p:sp>
      <p:sp>
        <p:nvSpPr>
          <p:cNvPr id="3" name="Text Placeholder 2">
            <a:extLst>
              <a:ext uri="{FF2B5EF4-FFF2-40B4-BE49-F238E27FC236}">
                <a16:creationId xmlns:a16="http://schemas.microsoft.com/office/drawing/2014/main" id="{256A62D7-B752-DDB6-DF54-8EF0EDF0E384}"/>
              </a:ext>
            </a:extLst>
          </p:cNvPr>
          <p:cNvSpPr>
            <a:spLocks noGrp="1"/>
          </p:cNvSpPr>
          <p:nvPr>
            <p:ph type="body" idx="1"/>
          </p:nvPr>
        </p:nvSpPr>
        <p:spPr>
          <a:xfrm>
            <a:off x="-98323" y="1825625"/>
            <a:ext cx="12290323" cy="4351338"/>
          </a:xfrm>
        </p:spPr>
        <p:txBody>
          <a:bodyPr>
            <a:normAutofit fontScale="25000" lnSpcReduction="20000"/>
          </a:bodyPr>
          <a:lstStyle/>
          <a:p>
            <a:pPr marL="114300" lvl="0" indent="0">
              <a:lnSpc>
                <a:spcPct val="162162"/>
              </a:lnSpc>
              <a:buClr>
                <a:srgbClr val="2B3541"/>
              </a:buClr>
              <a:buSzPts val="1850"/>
              <a:buNone/>
            </a:pPr>
            <a:r>
              <a:rPr lang="en-US" sz="6400" b="1" u="sng" dirty="0">
                <a:solidFill>
                  <a:srgbClr val="2B3541"/>
                </a:solidFill>
                <a:latin typeface="+mj-lt"/>
                <a:ea typeface="Times New Roman"/>
                <a:cs typeface="Times New Roman"/>
                <a:sym typeface="Times New Roman"/>
              </a:rPr>
              <a:t>Step 1 – Upload Knowledge Base : </a:t>
            </a:r>
            <a:r>
              <a:rPr lang="en-US" sz="6400" dirty="0">
                <a:solidFill>
                  <a:srgbClr val="2B3541"/>
                </a:solidFill>
                <a:latin typeface="+mj-lt"/>
                <a:ea typeface="Times New Roman"/>
                <a:cs typeface="Times New Roman"/>
                <a:sym typeface="Times New Roman"/>
              </a:rPr>
              <a:t>The admission guide PDF is uploaded into the project. This document acts as the chatbot's primary knowledge source and contains information about colleges, fees, placements, eligibility, scholarships, and admission procedures.</a:t>
            </a:r>
          </a:p>
          <a:p>
            <a:pPr marL="114300" lvl="0" indent="0">
              <a:lnSpc>
                <a:spcPct val="162162"/>
              </a:lnSpc>
              <a:buClr>
                <a:srgbClr val="2B3541"/>
              </a:buClr>
              <a:buSzPts val="1850"/>
              <a:buNone/>
            </a:pPr>
            <a:r>
              <a:rPr lang="en-US" sz="6400" b="1" u="sng" dirty="0">
                <a:solidFill>
                  <a:srgbClr val="2B3541"/>
                </a:solidFill>
                <a:latin typeface="+mj-lt"/>
                <a:ea typeface="Times New Roman"/>
                <a:cs typeface="Times New Roman"/>
                <a:sym typeface="Times New Roman"/>
              </a:rPr>
              <a:t>Step 2 – Document Processing : </a:t>
            </a:r>
            <a:r>
              <a:rPr lang="en-US" sz="6400" dirty="0">
                <a:solidFill>
                  <a:srgbClr val="2B3541"/>
                </a:solidFill>
                <a:latin typeface="+mj-lt"/>
                <a:ea typeface="Times New Roman"/>
                <a:cs typeface="Times New Roman"/>
                <a:sym typeface="Times New Roman"/>
              </a:rPr>
              <a:t>The uploaded PDF is processed using </a:t>
            </a:r>
            <a:r>
              <a:rPr lang="en-US" sz="6400" dirty="0" err="1">
                <a:solidFill>
                  <a:srgbClr val="2B3541"/>
                </a:solidFill>
                <a:latin typeface="+mj-lt"/>
                <a:ea typeface="Times New Roman"/>
                <a:cs typeface="Times New Roman"/>
                <a:sym typeface="Times New Roman"/>
              </a:rPr>
              <a:t>PyPDFLoader</a:t>
            </a:r>
            <a:r>
              <a:rPr lang="en-US" sz="6400" dirty="0">
                <a:solidFill>
                  <a:srgbClr val="2B3541"/>
                </a:solidFill>
                <a:latin typeface="+mj-lt"/>
                <a:ea typeface="Times New Roman"/>
                <a:cs typeface="Times New Roman"/>
                <a:sym typeface="Times New Roman"/>
              </a:rPr>
              <a:t> and divided into manageable chunks using </a:t>
            </a:r>
            <a:r>
              <a:rPr lang="en-US" sz="6400" dirty="0" err="1">
                <a:solidFill>
                  <a:srgbClr val="2B3541"/>
                </a:solidFill>
                <a:latin typeface="+mj-lt"/>
                <a:ea typeface="Times New Roman"/>
                <a:cs typeface="Times New Roman"/>
                <a:sym typeface="Times New Roman"/>
              </a:rPr>
              <a:t>RecursiveCharacterTextSplitter</a:t>
            </a:r>
            <a:r>
              <a:rPr lang="en-US" sz="6400" dirty="0">
                <a:solidFill>
                  <a:srgbClr val="2B3541"/>
                </a:solidFill>
                <a:latin typeface="+mj-lt"/>
                <a:ea typeface="Times New Roman"/>
                <a:cs typeface="Times New Roman"/>
                <a:sym typeface="Times New Roman"/>
              </a:rPr>
              <a:t> . This ensures that large documents can be efficiently searched and understood.</a:t>
            </a:r>
          </a:p>
          <a:p>
            <a:pPr marL="114300" lvl="0" indent="0">
              <a:lnSpc>
                <a:spcPct val="162162"/>
              </a:lnSpc>
              <a:buClr>
                <a:srgbClr val="2B3541"/>
              </a:buClr>
              <a:buSzPts val="1850"/>
              <a:buNone/>
            </a:pPr>
            <a:r>
              <a:rPr lang="en-US" sz="6400" b="1" u="sng" dirty="0">
                <a:solidFill>
                  <a:srgbClr val="2B3541"/>
                </a:solidFill>
                <a:latin typeface="+mj-lt"/>
                <a:ea typeface="Times New Roman"/>
                <a:cs typeface="Times New Roman"/>
                <a:sym typeface="Times New Roman"/>
              </a:rPr>
              <a:t>Step 3 – Embedding Generation : </a:t>
            </a:r>
            <a:r>
              <a:rPr lang="en-US" sz="6400" dirty="0">
                <a:solidFill>
                  <a:srgbClr val="2B3541"/>
                </a:solidFill>
                <a:latin typeface="+mj-lt"/>
                <a:ea typeface="Times New Roman"/>
                <a:cs typeface="Times New Roman"/>
                <a:sym typeface="Times New Roman"/>
              </a:rPr>
              <a:t>Each text chunk is converted into vector embeddings using Hugging Face's sentence-transformer model. These embeddings capture the semantic meaning of the content instead of relying only on keyword matching.</a:t>
            </a:r>
          </a:p>
          <a:p>
            <a:pPr marL="114300" lvl="0" indent="0">
              <a:lnSpc>
                <a:spcPct val="162162"/>
              </a:lnSpc>
              <a:buClr>
                <a:srgbClr val="2B3541"/>
              </a:buClr>
              <a:buSzPts val="1850"/>
              <a:buNone/>
            </a:pPr>
            <a:r>
              <a:rPr lang="en-US" sz="6400" b="1" u="sng" dirty="0">
                <a:solidFill>
                  <a:srgbClr val="2B3541"/>
                </a:solidFill>
                <a:latin typeface="+mj-lt"/>
                <a:ea typeface="Times New Roman"/>
                <a:cs typeface="Times New Roman"/>
                <a:sym typeface="Times New Roman"/>
              </a:rPr>
              <a:t>Step 4 – Vector Database Creation : </a:t>
            </a:r>
            <a:r>
              <a:rPr lang="en-US" sz="6400" dirty="0">
                <a:solidFill>
                  <a:srgbClr val="2B3541"/>
                </a:solidFill>
                <a:latin typeface="+mj-lt"/>
                <a:ea typeface="Times New Roman"/>
                <a:cs typeface="Times New Roman"/>
                <a:sym typeface="Times New Roman"/>
              </a:rPr>
              <a:t>The generated embeddings are stored in a FAISS vector database. This database enables fast similarity searches, allowing the chatbot to retrieve the most relevant information for any user query.</a:t>
            </a:r>
          </a:p>
          <a:p>
            <a:pPr marL="114300" lvl="0" indent="0">
              <a:lnSpc>
                <a:spcPct val="162162"/>
              </a:lnSpc>
              <a:buClr>
                <a:srgbClr val="2B3541"/>
              </a:buClr>
              <a:buSzPts val="1850"/>
              <a:buNone/>
            </a:pPr>
            <a:r>
              <a:rPr lang="en-US" sz="6400" b="1" u="sng" dirty="0">
                <a:solidFill>
                  <a:srgbClr val="2B3541"/>
                </a:solidFill>
                <a:latin typeface="+mj-lt"/>
                <a:ea typeface="Times New Roman"/>
                <a:cs typeface="Times New Roman"/>
                <a:sym typeface="Times New Roman"/>
              </a:rPr>
              <a:t>Step 5 – Response Generation : </a:t>
            </a:r>
            <a:r>
              <a:rPr lang="en-US" sz="6400" dirty="0">
                <a:solidFill>
                  <a:srgbClr val="2B3541"/>
                </a:solidFill>
                <a:latin typeface="+mj-lt"/>
                <a:ea typeface="Times New Roman"/>
                <a:cs typeface="Times New Roman"/>
                <a:sym typeface="Times New Roman"/>
              </a:rPr>
              <a:t>When a user asks a question, the chatbot retrieves the most relevant document chunks from FAISS. These chunks are passed to IBM </a:t>
            </a:r>
            <a:r>
              <a:rPr lang="en-US" sz="6400" dirty="0" err="1">
                <a:solidFill>
                  <a:srgbClr val="2B3541"/>
                </a:solidFill>
                <a:latin typeface="+mj-lt"/>
                <a:ea typeface="Times New Roman"/>
                <a:cs typeface="Times New Roman"/>
                <a:sym typeface="Times New Roman"/>
              </a:rPr>
              <a:t>watsonx.ai's</a:t>
            </a:r>
            <a:r>
              <a:rPr lang="en-US" sz="6400" dirty="0">
                <a:solidFill>
                  <a:srgbClr val="2B3541"/>
                </a:solidFill>
                <a:latin typeface="+mj-lt"/>
                <a:ea typeface="Times New Roman"/>
                <a:cs typeface="Times New Roman"/>
                <a:sym typeface="Times New Roman"/>
              </a:rPr>
              <a:t> Llama 3.3 model, which generates a detailed and context-aware answer.·</a:t>
            </a:r>
            <a:endParaRPr lang="en-US" sz="6400" dirty="0">
              <a:solidFill>
                <a:srgbClr val="000000"/>
              </a:solidFill>
              <a:latin typeface="+mj-lt"/>
              <a:ea typeface="Times New Roman"/>
              <a:cs typeface="Times New Roman"/>
              <a:sym typeface="Times New Roman"/>
            </a:endParaRPr>
          </a:p>
          <a:p>
            <a:endParaRPr lang="en-IN" dirty="0"/>
          </a:p>
        </p:txBody>
      </p:sp>
    </p:spTree>
    <p:extLst>
      <p:ext uri="{BB962C8B-B14F-4D97-AF65-F5344CB8AC3E}">
        <p14:creationId xmlns:p14="http://schemas.microsoft.com/office/powerpoint/2010/main" val="206766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0" y="17769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sng" strike="noStrike" cap="none" dirty="0">
                <a:solidFill>
                  <a:srgbClr val="000000"/>
                </a:solidFill>
                <a:latin typeface="Arial"/>
                <a:ea typeface="Arial"/>
                <a:cs typeface="Arial"/>
                <a:sym typeface="Arial"/>
              </a:rPr>
              <a:t>Role of Agentic AI in the solution </a:t>
            </a:r>
            <a:endParaRPr sz="3200" b="1" i="0" u="sng" strike="noStrike" cap="none" dirty="0">
              <a:solidFill>
                <a:srgbClr val="000000"/>
              </a:solidFill>
              <a:latin typeface="Arial"/>
              <a:ea typeface="Arial"/>
              <a:cs typeface="Arial"/>
              <a:sym typeface="Arial"/>
            </a:endParaRPr>
          </a:p>
        </p:txBody>
      </p:sp>
      <p:sp>
        <p:nvSpPr>
          <p:cNvPr id="139" name="Google Shape;139;p9"/>
          <p:cNvSpPr txBox="1"/>
          <p:nvPr/>
        </p:nvSpPr>
        <p:spPr>
          <a:xfrm>
            <a:off x="0" y="878758"/>
            <a:ext cx="7406640" cy="6001603"/>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US" sz="1600" dirty="0"/>
              <a:t> </a:t>
            </a:r>
            <a:r>
              <a:rPr lang="en-US" sz="1600" b="1" u="sng" dirty="0"/>
              <a:t>Understands User Intent :</a:t>
            </a:r>
            <a:r>
              <a:rPr lang="en-US" sz="1600" dirty="0"/>
              <a:t>The Agentic AI first analyzes the user's question to understand what information is being requested. It identifies whether the query is about admissions, cutoffs, fees, placements, eligibility, or another college-related topic. This helps the chatbot provide relevant and accurate responses.</a:t>
            </a:r>
          </a:p>
          <a:p>
            <a:pPr marL="285750" lvl="0" indent="-285750">
              <a:buFont typeface="Arial" panose="020B0604020202020204" pitchFamily="34" charset="0"/>
              <a:buChar char="•"/>
            </a:pPr>
            <a:r>
              <a:rPr lang="en-US" sz="1600" b="1" u="sng" dirty="0"/>
              <a:t>Retrieves Relevant Information </a:t>
            </a:r>
            <a:r>
              <a:rPr lang="en-US" sz="1600" dirty="0"/>
              <a:t>:Instead of generating answers from memory, the agent searches the FAISS vector database created from the uploaded college PDF. It retrieves the most relevant document chunks using Retrieval-Augmented Generation (RAG). This ensures responses are based on the actual knowledge base.</a:t>
            </a:r>
          </a:p>
          <a:p>
            <a:pPr marL="285750" lvl="0" indent="-285750">
              <a:buFont typeface="Arial" panose="020B0604020202020204" pitchFamily="34" charset="0"/>
              <a:buChar char="•"/>
            </a:pPr>
            <a:r>
              <a:rPr lang="en-US" sz="1600" dirty="0"/>
              <a:t> </a:t>
            </a:r>
            <a:r>
              <a:rPr lang="en-US" sz="1600" b="1" u="sng" dirty="0"/>
              <a:t>Generates Context-Aware Responses :</a:t>
            </a:r>
            <a:r>
              <a:rPr lang="en-US" sz="1600" dirty="0"/>
              <a:t>The retrieved information is combined with the user's question and sent to the Llama 3.3 model on IBM watsonx.ai. The AI generates clear, detailed, and easy-to-understand answers. It avoids hallucinations by relying on the retrieved context.</a:t>
            </a:r>
          </a:p>
          <a:p>
            <a:pPr marL="285750" lvl="0" indent="-285750">
              <a:buFont typeface="Arial" panose="020B0604020202020204" pitchFamily="34" charset="0"/>
              <a:buChar char="•"/>
            </a:pPr>
            <a:r>
              <a:rPr lang="en-US" sz="1600" b="1" u="sng" dirty="0"/>
              <a:t> Handles Different Types of Queries </a:t>
            </a:r>
            <a:r>
              <a:rPr lang="en-US" sz="1600" dirty="0"/>
              <a:t>:The agent can answer questions related to admissions, fee structure, eligibility criteria, placements, scholarships, hostel facilities, and cutoffs. It adapts its response based on the type of query asked by the user. This makes the chatbot more intelligent and user-friendly.</a:t>
            </a:r>
          </a:p>
          <a:p>
            <a:pPr marL="285750" lvl="0" indent="-285750">
              <a:buFont typeface="Arial" panose="020B0604020202020204" pitchFamily="34" charset="0"/>
              <a:buChar char="•"/>
            </a:pPr>
            <a:r>
              <a:rPr lang="en-US" sz="1600" dirty="0"/>
              <a:t> </a:t>
            </a:r>
            <a:r>
              <a:rPr lang="en-US" sz="1600" b="1" u="sng" dirty="0"/>
              <a:t>Improves User Experience</a:t>
            </a:r>
            <a:r>
              <a:rPr lang="en-US" sz="1600" dirty="0"/>
              <a:t>: The Agentic AI provides quick, interactive, and personalized responses through the </a:t>
            </a:r>
            <a:r>
              <a:rPr lang="en-US" sz="1600" dirty="0" err="1"/>
              <a:t>Streamlit</a:t>
            </a:r>
            <a:r>
              <a:rPr lang="en-US" sz="1600" dirty="0"/>
              <a:t> interface. It reduces the time required to search through lengthy college documents. Students receive accurate information in a conversational format, making the admission process simpler and more efficient.</a:t>
            </a:r>
            <a:endParaRPr sz="1600" dirty="0"/>
          </a:p>
        </p:txBody>
      </p:sp>
      <p:pic>
        <p:nvPicPr>
          <p:cNvPr id="3" name="Picture 2">
            <a:extLst>
              <a:ext uri="{FF2B5EF4-FFF2-40B4-BE49-F238E27FC236}">
                <a16:creationId xmlns:a16="http://schemas.microsoft.com/office/drawing/2014/main" id="{6CDDECBC-2F7A-56AD-F035-D3AE3B8DC500}"/>
              </a:ext>
            </a:extLst>
          </p:cNvPr>
          <p:cNvPicPr>
            <a:picLocks noChangeAspect="1"/>
          </p:cNvPicPr>
          <p:nvPr/>
        </p:nvPicPr>
        <p:blipFill>
          <a:blip r:embed="rId3"/>
          <a:stretch>
            <a:fillRect/>
          </a:stretch>
        </p:blipFill>
        <p:spPr>
          <a:xfrm>
            <a:off x="7576149" y="1533832"/>
            <a:ext cx="4615851" cy="35101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411196" y="314114"/>
            <a:ext cx="6589371"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sng" strike="noStrike" cap="none" dirty="0">
                <a:solidFill>
                  <a:srgbClr val="000000"/>
                </a:solidFill>
                <a:latin typeface="Arial"/>
                <a:ea typeface="Arial"/>
                <a:cs typeface="Arial"/>
                <a:sym typeface="Arial"/>
              </a:rPr>
              <a:t>Token Usage </a:t>
            </a:r>
            <a:r>
              <a:rPr lang="en-US" sz="2400" b="1" i="0" u="none" strike="noStrike" cap="none" dirty="0">
                <a:solidFill>
                  <a:srgbClr val="000000"/>
                </a:solidFill>
                <a:latin typeface="Arial"/>
                <a:ea typeface="Arial"/>
                <a:cs typeface="Arial"/>
                <a:sym typeface="Arial"/>
              </a:rPr>
              <a:t>: </a:t>
            </a:r>
            <a:r>
              <a:rPr lang="en-US" sz="2400" i="0" u="none" strike="noStrike" cap="none" dirty="0">
                <a:solidFill>
                  <a:srgbClr val="000000"/>
                </a:solidFill>
                <a:latin typeface="Arial"/>
                <a:ea typeface="Arial"/>
                <a:cs typeface="Arial"/>
                <a:sym typeface="Arial"/>
              </a:rPr>
              <a:t>Total 107345 </a:t>
            </a:r>
            <a:r>
              <a:rPr lang="en-US" sz="2400" b="1" i="0" u="none" strike="noStrike" cap="none" dirty="0">
                <a:solidFill>
                  <a:srgbClr val="000000"/>
                </a:solidFill>
                <a:latin typeface="Arial"/>
                <a:ea typeface="Arial"/>
                <a:cs typeface="Arial"/>
                <a:sym typeface="Arial"/>
              </a:rPr>
              <a:t>Tokens</a:t>
            </a:r>
            <a:r>
              <a:rPr lang="en-US" sz="2400" i="0" u="none" strike="noStrike" cap="none" dirty="0">
                <a:solidFill>
                  <a:srgbClr val="000000"/>
                </a:solidFill>
                <a:latin typeface="Arial"/>
                <a:ea typeface="Arial"/>
                <a:cs typeface="Arial"/>
                <a:sym typeface="Arial"/>
              </a:rPr>
              <a:t> are used.</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AD7A13B-EAB0-EC65-8865-AF4B2FC20B67}"/>
              </a:ext>
            </a:extLst>
          </p:cNvPr>
          <p:cNvPicPr>
            <a:picLocks noChangeAspect="1"/>
          </p:cNvPicPr>
          <p:nvPr/>
        </p:nvPicPr>
        <p:blipFill>
          <a:blip r:embed="rId3"/>
          <a:stretch>
            <a:fillRect/>
          </a:stretch>
        </p:blipFill>
        <p:spPr>
          <a:xfrm>
            <a:off x="5865727" y="1196021"/>
            <a:ext cx="5643099" cy="3280715"/>
          </a:xfrm>
          <a:prstGeom prst="rect">
            <a:avLst/>
          </a:prstGeom>
        </p:spPr>
      </p:pic>
      <p:pic>
        <p:nvPicPr>
          <p:cNvPr id="5" name="Picture 4">
            <a:extLst>
              <a:ext uri="{FF2B5EF4-FFF2-40B4-BE49-F238E27FC236}">
                <a16:creationId xmlns:a16="http://schemas.microsoft.com/office/drawing/2014/main" id="{EBC4DFA0-807F-FA0B-D389-ABF58379861D}"/>
              </a:ext>
            </a:extLst>
          </p:cNvPr>
          <p:cNvPicPr>
            <a:picLocks noChangeAspect="1"/>
          </p:cNvPicPr>
          <p:nvPr/>
        </p:nvPicPr>
        <p:blipFill>
          <a:blip r:embed="rId4"/>
          <a:stretch>
            <a:fillRect/>
          </a:stretch>
        </p:blipFill>
        <p:spPr>
          <a:xfrm>
            <a:off x="411197" y="4625147"/>
            <a:ext cx="10562079" cy="2232853"/>
          </a:xfrm>
          <a:prstGeom prst="rect">
            <a:avLst/>
          </a:prstGeom>
        </p:spPr>
      </p:pic>
      <p:pic>
        <p:nvPicPr>
          <p:cNvPr id="7" name="Picture 6">
            <a:extLst>
              <a:ext uri="{FF2B5EF4-FFF2-40B4-BE49-F238E27FC236}">
                <a16:creationId xmlns:a16="http://schemas.microsoft.com/office/drawing/2014/main" id="{88E4059E-7F18-0954-BB9C-FC6703F477D7}"/>
              </a:ext>
            </a:extLst>
          </p:cNvPr>
          <p:cNvPicPr>
            <a:picLocks noChangeAspect="1"/>
          </p:cNvPicPr>
          <p:nvPr/>
        </p:nvPicPr>
        <p:blipFill>
          <a:blip r:embed="rId5"/>
          <a:stretch>
            <a:fillRect/>
          </a:stretch>
        </p:blipFill>
        <p:spPr>
          <a:xfrm>
            <a:off x="58138" y="1349112"/>
            <a:ext cx="4894862" cy="23941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531433" y="317484"/>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sng" strike="noStrike" cap="none" dirty="0">
                <a:solidFill>
                  <a:srgbClr val="000000"/>
                </a:solidFill>
                <a:latin typeface="Arial"/>
                <a:ea typeface="Arial"/>
                <a:cs typeface="Arial"/>
                <a:sym typeface="Arial"/>
              </a:rPr>
              <a:t>Novelty and Uniqueness</a:t>
            </a:r>
            <a:endParaRPr sz="2400" b="1" i="0" u="sng" strike="noStrike" cap="none" dirty="0">
              <a:solidFill>
                <a:srgbClr val="000000"/>
              </a:solidFill>
              <a:latin typeface="Arial"/>
              <a:ea typeface="Arial"/>
              <a:cs typeface="Arial"/>
              <a:sym typeface="Arial"/>
            </a:endParaRPr>
          </a:p>
        </p:txBody>
      </p:sp>
      <p:sp>
        <p:nvSpPr>
          <p:cNvPr id="158" name="Google Shape;158;p40"/>
          <p:cNvSpPr txBox="1"/>
          <p:nvPr/>
        </p:nvSpPr>
        <p:spPr>
          <a:xfrm>
            <a:off x="531433" y="948730"/>
            <a:ext cx="11301984" cy="5909270"/>
          </a:xfrm>
          <a:prstGeom prst="rect">
            <a:avLst/>
          </a:prstGeom>
          <a:noFill/>
          <a:ln>
            <a:noFill/>
          </a:ln>
        </p:spPr>
        <p:txBody>
          <a:bodyPr spcFirstLastPara="1" wrap="square" lIns="91425" tIns="45700" rIns="91425" bIns="45700" anchor="t" anchorCtr="0">
            <a:spAutoFit/>
          </a:bodyPr>
          <a:lstStyle/>
          <a:p>
            <a:pPr lvl="0"/>
            <a:r>
              <a:rPr lang="en-US" sz="1800" b="1" u="sng" dirty="0"/>
              <a:t>Novelty</a:t>
            </a:r>
          </a:p>
          <a:p>
            <a:pPr marL="285750" lvl="0" indent="-285750">
              <a:buFont typeface="Arial" panose="020B0604020202020204" pitchFamily="34" charset="0"/>
              <a:buChar char="•"/>
            </a:pPr>
            <a:r>
              <a:rPr lang="en-US" sz="1800" b="1" u="sng" dirty="0"/>
              <a:t>AI-Powered College Admission Assistant</a:t>
            </a:r>
          </a:p>
          <a:p>
            <a:pPr lvl="0"/>
            <a:r>
              <a:rPr lang="en-US" sz="1800" dirty="0"/>
              <a:t>Uses IBM watsonx.ai with the Llama 3.3 model to answer admission-related queries in natural language instead of using fixed FAQs.</a:t>
            </a:r>
          </a:p>
          <a:p>
            <a:pPr marL="285750" lvl="0" indent="-285750">
              <a:buFont typeface="Arial" panose="020B0604020202020204" pitchFamily="34" charset="0"/>
              <a:buChar char="•"/>
            </a:pPr>
            <a:r>
              <a:rPr lang="en-US" sz="1800" b="1" u="sng" dirty="0"/>
              <a:t>RAG-Based Information Retrieval</a:t>
            </a:r>
          </a:p>
          <a:p>
            <a:pPr lvl="0"/>
            <a:r>
              <a:rPr lang="en-US" sz="1800" dirty="0"/>
              <a:t>Combines Retrieval-Augmented Generation (RAG) with a FAISS vector database to retrieve relevant information from uploaded college PDFs before generating responses.</a:t>
            </a:r>
          </a:p>
          <a:p>
            <a:pPr marL="285750" lvl="0" indent="-285750">
              <a:buFont typeface="Arial" panose="020B0604020202020204" pitchFamily="34" charset="0"/>
              <a:buChar char="•"/>
            </a:pPr>
            <a:r>
              <a:rPr lang="en-US" sz="1800" b="1" u="sng" dirty="0"/>
              <a:t>Semantic Search Capability</a:t>
            </a:r>
          </a:p>
          <a:p>
            <a:pPr lvl="0"/>
            <a:r>
              <a:rPr lang="en-US" sz="1800" dirty="0"/>
              <a:t>Finds relevant information based on the meaning of the user's query rather than exact keyword matching, resulting in more accurate answers.</a:t>
            </a:r>
          </a:p>
          <a:p>
            <a:pPr lvl="0"/>
            <a:r>
              <a:rPr lang="en-US" sz="1800" b="1" u="sng" dirty="0"/>
              <a:t>Uniqueness</a:t>
            </a:r>
          </a:p>
          <a:p>
            <a:pPr marL="285750" lvl="0" indent="-285750">
              <a:buFont typeface="Arial" panose="020B0604020202020204" pitchFamily="34" charset="0"/>
              <a:buChar char="•"/>
            </a:pPr>
            <a:r>
              <a:rPr lang="en-US" sz="1800" b="1" u="sng" dirty="0"/>
              <a:t>Dynamic Knowledge Base</a:t>
            </a:r>
          </a:p>
          <a:p>
            <a:pPr lvl="0"/>
            <a:r>
              <a:rPr lang="en-US" sz="1800" dirty="0"/>
              <a:t>The chatbot can be updated by simply adding new college PDFs and rebuilding the vector database without changing the application code.</a:t>
            </a:r>
          </a:p>
          <a:p>
            <a:pPr marL="285750" lvl="0" indent="-285750">
              <a:buFont typeface="Arial" panose="020B0604020202020204" pitchFamily="34" charset="0"/>
              <a:buChar char="•"/>
            </a:pPr>
            <a:r>
              <a:rPr lang="en-US" sz="1800" b="1" u="sng" dirty="0"/>
              <a:t>End-to-End AI Solution</a:t>
            </a:r>
          </a:p>
          <a:p>
            <a:pPr lvl="0"/>
            <a:r>
              <a:rPr lang="en-US" sz="1800" dirty="0"/>
              <a:t>Integrates PDF processing, embeddings, vector search, IBM watsonx.ai, and a </a:t>
            </a:r>
            <a:r>
              <a:rPr lang="en-US" sz="1800" dirty="0" err="1"/>
              <a:t>Streamlit</a:t>
            </a:r>
            <a:r>
              <a:rPr lang="en-US" sz="1800" dirty="0"/>
              <a:t> interface into one complete admission assistance system.</a:t>
            </a:r>
          </a:p>
          <a:p>
            <a:pPr marL="285750" lvl="0" indent="-285750">
              <a:buFont typeface="Arial" panose="020B0604020202020204" pitchFamily="34" charset="0"/>
              <a:buChar char="•"/>
            </a:pPr>
            <a:r>
              <a:rPr lang="en-US" sz="1800" b="1" u="sng" dirty="0"/>
              <a:t>Student-Centric Conversational Experience</a:t>
            </a:r>
          </a:p>
          <a:p>
            <a:pPr lvl="0"/>
            <a:r>
              <a:rPr lang="en-US" sz="1800" dirty="0"/>
              <a:t>Provides instant, detailed, and context-aware responses about admissions, fees, cutoffs, eligibility, placements, and scholarships through an easy-to-use chat interface, reducing the need to manually search lengthy documents.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273575" y="1153711"/>
            <a:ext cx="11788877" cy="1732536"/>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000" b="1" i="0" u="none" strike="noStrike" cap="none" dirty="0">
                <a:solidFill>
                  <a:srgbClr val="000000"/>
                </a:solidFill>
                <a:latin typeface="Arial"/>
                <a:ea typeface="Arial"/>
                <a:cs typeface="Arial"/>
                <a:sym typeface="Arial"/>
              </a:rPr>
              <a:t>Git Hub Link</a:t>
            </a:r>
            <a:r>
              <a:rPr lang="en-US" sz="2000" b="1" dirty="0"/>
              <a:t> :</a:t>
            </a:r>
            <a:r>
              <a:rPr lang="en-US" sz="2000" b="1" dirty="0">
                <a:hlinkClick r:id="rId3"/>
              </a:rPr>
              <a:t>https://github.com/</a:t>
            </a:r>
            <a:r>
              <a:rPr lang="en-US" sz="2000" b="1" dirty="0" err="1">
                <a:hlinkClick r:id="rId3"/>
              </a:rPr>
              <a:t>Shreythemasterai</a:t>
            </a:r>
            <a:r>
              <a:rPr lang="en-US" sz="2000" b="1" dirty="0">
                <a:hlinkClick r:id="rId3"/>
              </a:rPr>
              <a:t>/college-admission-</a:t>
            </a:r>
            <a:r>
              <a:rPr lang="en-US" sz="2000" b="1" dirty="0" err="1">
                <a:hlinkClick r:id="rId3"/>
              </a:rPr>
              <a:t>chatbot.git</a:t>
            </a:r>
            <a:endParaRPr lang="en-US" sz="2000" b="1" i="0" u="none" strike="noStrike" cap="none" dirty="0">
              <a:solidFill>
                <a:srgbClr val="000000"/>
              </a:solidFill>
              <a:latin typeface="Arial"/>
              <a:ea typeface="Arial"/>
              <a:cs typeface="Arial"/>
              <a:sym typeface="Arial"/>
            </a:endParaRPr>
          </a:p>
        </p:txBody>
      </p:sp>
      <p:sp>
        <p:nvSpPr>
          <p:cNvPr id="164" name="Google Shape;164;p41"/>
          <p:cNvSpPr/>
          <p:nvPr/>
        </p:nvSpPr>
        <p:spPr>
          <a:xfrm>
            <a:off x="1488710" y="1427288"/>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44030" y="2019979"/>
            <a:ext cx="11788877" cy="5532224"/>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i="0" u="none" strike="noStrike" cap="none" dirty="0">
                <a:solidFill>
                  <a:srgbClr val="2B3541"/>
                </a:solidFill>
                <a:latin typeface="+mj-lt"/>
                <a:ea typeface="Times New Roman"/>
                <a:cs typeface="Times New Roman"/>
                <a:sym typeface="Times New Roman"/>
              </a:rPr>
              <a:t>Chatbot </a:t>
            </a:r>
            <a:r>
              <a:rPr lang="en-US" sz="2000" b="1" dirty="0">
                <a:solidFill>
                  <a:srgbClr val="2B3541"/>
                </a:solidFill>
                <a:latin typeface="+mj-lt"/>
                <a:ea typeface="Times New Roman"/>
                <a:cs typeface="Times New Roman"/>
                <a:sym typeface="Times New Roman"/>
              </a:rPr>
              <a:t>Link through </a:t>
            </a:r>
            <a:r>
              <a:rPr lang="en-US" sz="2000" b="1" dirty="0" err="1">
                <a:solidFill>
                  <a:srgbClr val="2B3541"/>
                </a:solidFill>
                <a:latin typeface="+mj-lt"/>
                <a:ea typeface="Times New Roman"/>
                <a:cs typeface="Times New Roman"/>
                <a:sym typeface="Times New Roman"/>
              </a:rPr>
              <a:t>Streamlite</a:t>
            </a:r>
            <a:r>
              <a:rPr lang="en-US" sz="2000" b="1" dirty="0">
                <a:solidFill>
                  <a:srgbClr val="2B3541"/>
                </a:solidFill>
                <a:latin typeface="+mj-lt"/>
                <a:ea typeface="Times New Roman"/>
                <a:cs typeface="Times New Roman"/>
                <a:sym typeface="Times New Roman"/>
              </a:rPr>
              <a:t> App </a:t>
            </a:r>
            <a:r>
              <a:rPr lang="en-US" sz="2800" dirty="0">
                <a:solidFill>
                  <a:srgbClr val="2B3541"/>
                </a:solidFill>
                <a:latin typeface="+mj-lt"/>
                <a:ea typeface="Times New Roman"/>
                <a:cs typeface="Times New Roman"/>
                <a:sym typeface="Times New Roman"/>
              </a:rPr>
              <a:t>:</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4"/>
              </a:rPr>
              <a:t>https://college-admission-chatbot-nndncs28ay45botepsg59w.streamlit.app/</a:t>
            </a:r>
            <a:endParaRPr sz="1850" b="0" i="0" u="none" strike="noStrike" cap="none" dirty="0">
              <a:solidFill>
                <a:srgbClr val="000000"/>
              </a:solidFill>
              <a:latin typeface="Times New Roman"/>
              <a:ea typeface="Times New Roman"/>
              <a:cs typeface="Times New Roman"/>
              <a:sym typeface="Times New Roman"/>
            </a:endParaRPr>
          </a:p>
        </p:txBody>
      </p:sp>
      <p:sp>
        <p:nvSpPr>
          <p:cNvPr id="166" name="Google Shape;166;p41"/>
          <p:cNvSpPr/>
          <p:nvPr/>
        </p:nvSpPr>
        <p:spPr>
          <a:xfrm>
            <a:off x="144032" y="1044263"/>
            <a:ext cx="12047965" cy="479322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sz="1600" b="0" i="0" u="none" strike="noStrike" cap="none" dirty="0">
              <a:solidFill>
                <a:srgbClr val="000000"/>
              </a:solidFill>
              <a:latin typeface="+mj-lt"/>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905EA56-057D-9C87-C512-A3DBC9C56BAE}"/>
              </a:ext>
            </a:extLst>
          </p:cNvPr>
          <p:cNvPicPr>
            <a:picLocks noChangeAspect="1"/>
          </p:cNvPicPr>
          <p:nvPr/>
        </p:nvPicPr>
        <p:blipFill>
          <a:blip r:embed="rId5"/>
          <a:stretch>
            <a:fillRect/>
          </a:stretch>
        </p:blipFill>
        <p:spPr>
          <a:xfrm>
            <a:off x="5157496" y="2995695"/>
            <a:ext cx="7059561" cy="3862305"/>
          </a:xfrm>
          <a:prstGeom prst="rect">
            <a:avLst/>
          </a:prstGeom>
        </p:spPr>
      </p:pic>
      <p:pic>
        <p:nvPicPr>
          <p:cNvPr id="5" name="Picture 4">
            <a:extLst>
              <a:ext uri="{FF2B5EF4-FFF2-40B4-BE49-F238E27FC236}">
                <a16:creationId xmlns:a16="http://schemas.microsoft.com/office/drawing/2014/main" id="{A564A1DA-A620-B5B5-C85C-1E5BB17FDC55}"/>
              </a:ext>
            </a:extLst>
          </p:cNvPr>
          <p:cNvPicPr>
            <a:picLocks noChangeAspect="1"/>
          </p:cNvPicPr>
          <p:nvPr/>
        </p:nvPicPr>
        <p:blipFill>
          <a:blip r:embed="rId6"/>
          <a:stretch>
            <a:fillRect/>
          </a:stretch>
        </p:blipFill>
        <p:spPr>
          <a:xfrm>
            <a:off x="515635" y="2940970"/>
            <a:ext cx="3969522" cy="39717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117755"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sng" strike="noStrike" cap="none" dirty="0">
                <a:solidFill>
                  <a:srgbClr val="000000"/>
                </a:solidFill>
                <a:latin typeface="Arial"/>
                <a:ea typeface="Arial"/>
                <a:cs typeface="Arial"/>
                <a:sym typeface="Arial"/>
              </a:rPr>
              <a:t>Future Scope </a:t>
            </a:r>
            <a:endParaRPr sz="2400" b="1" i="0" u="sng" strike="noStrike" cap="none" dirty="0">
              <a:solidFill>
                <a:srgbClr val="000000"/>
              </a:solidFill>
              <a:latin typeface="Arial"/>
              <a:ea typeface="Arial"/>
              <a:cs typeface="Arial"/>
              <a:sym typeface="Arial"/>
            </a:endParaRPr>
          </a:p>
        </p:txBody>
      </p:sp>
      <p:sp>
        <p:nvSpPr>
          <p:cNvPr id="173" name="Google Shape;173;p42"/>
          <p:cNvSpPr/>
          <p:nvPr/>
        </p:nvSpPr>
        <p:spPr>
          <a:xfrm>
            <a:off x="1069070" y="1221714"/>
            <a:ext cx="4952103" cy="5483885"/>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The chatbot can be enhanced by integrating multiple college PDFs instead of relying on a single document. Features such as voice interaction, multilingual support, personalized college recommendations based on entrance exam scores, and integration with live admission portals can make the system more powerful. Future versions can also incorporate advanced Agentic AI capabilities to automate admission guidance and document verification</a:t>
            </a:r>
            <a:r>
              <a:rPr lang="en-US" sz="1850" b="1" dirty="0">
                <a:solidFill>
                  <a:srgbClr val="2B3541"/>
                </a:solidFill>
                <a:latin typeface="Times New Roman"/>
                <a:ea typeface="Times New Roman"/>
                <a:cs typeface="Times New Roman"/>
                <a:sym typeface="Times New Roman"/>
              </a:rPr>
              <a:t>.</a:t>
            </a:r>
            <a:endParaRPr sz="1850" b="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4952103" cy="668149"/>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2"/>
            <a:ext cx="10894618" cy="1274887"/>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3C61F89-727F-FE19-80F4-EDB6DBD2534F}"/>
              </a:ext>
            </a:extLst>
          </p:cNvPr>
          <p:cNvPicPr>
            <a:picLocks noChangeAspect="1"/>
          </p:cNvPicPr>
          <p:nvPr/>
        </p:nvPicPr>
        <p:blipFill>
          <a:blip r:embed="rId3"/>
          <a:stretch>
            <a:fillRect/>
          </a:stretch>
        </p:blipFill>
        <p:spPr>
          <a:xfrm>
            <a:off x="6170828" y="1393946"/>
            <a:ext cx="6021172" cy="32773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C4F8CD-2AF8-9BF7-988A-418E48B52A3D}"/>
              </a:ext>
            </a:extLst>
          </p:cNvPr>
          <p:cNvSpPr>
            <a:spLocks noGrp="1"/>
          </p:cNvSpPr>
          <p:nvPr>
            <p:ph type="title"/>
          </p:nvPr>
        </p:nvSpPr>
        <p:spPr>
          <a:xfrm>
            <a:off x="248263" y="1356852"/>
            <a:ext cx="6477002" cy="3972232"/>
          </a:xfrm>
        </p:spPr>
        <p:txBody>
          <a:bodyPr>
            <a:noAutofit/>
          </a:bodyPr>
          <a:lstStyle/>
          <a:p>
            <a:pPr>
              <a:lnSpc>
                <a:spcPct val="150000"/>
              </a:lnSpc>
            </a:pPr>
            <a:r>
              <a:rPr lang="en-US" sz="2800" b="1" u="sng" dirty="0"/>
              <a:t>Conclusion</a:t>
            </a:r>
            <a:r>
              <a:rPr lang="en-US" sz="2000" dirty="0"/>
              <a:t> </a:t>
            </a:r>
            <a:br>
              <a:rPr lang="en-US" sz="2000" dirty="0"/>
            </a:br>
            <a:br>
              <a:rPr lang="en-US" sz="2000" dirty="0"/>
            </a:br>
            <a:r>
              <a:rPr lang="en-US" sz="2000" dirty="0">
                <a:latin typeface="+mj-lt"/>
              </a:rPr>
              <a:t>The AI-Powered College Admission Assistant demonstrates how Retrieval-Augmented Generation and IBM watsonx.ai can simplify the college admission process. By combining semantic search with a Large Language Model, the chatbot delivers accurate, context-aware, and reliable responses. The project showcases the practical application of Agentic AI in education and highlights the potential of intelligent assistants to improve access to information while reducing manual effort.</a:t>
            </a:r>
            <a:endParaRPr lang="en-IN" sz="2000" dirty="0">
              <a:latin typeface="+mj-lt"/>
            </a:endParaRPr>
          </a:p>
        </p:txBody>
      </p:sp>
      <p:pic>
        <p:nvPicPr>
          <p:cNvPr id="6" name="Picture 5">
            <a:extLst>
              <a:ext uri="{FF2B5EF4-FFF2-40B4-BE49-F238E27FC236}">
                <a16:creationId xmlns:a16="http://schemas.microsoft.com/office/drawing/2014/main" id="{3269A960-3799-96B5-B0EC-3C13CD933B39}"/>
              </a:ext>
            </a:extLst>
          </p:cNvPr>
          <p:cNvPicPr>
            <a:picLocks noChangeAspect="1"/>
          </p:cNvPicPr>
          <p:nvPr/>
        </p:nvPicPr>
        <p:blipFill>
          <a:blip r:embed="rId2"/>
          <a:stretch>
            <a:fillRect/>
          </a:stretch>
        </p:blipFill>
        <p:spPr>
          <a:xfrm>
            <a:off x="6508954" y="1631360"/>
            <a:ext cx="5683045" cy="3619066"/>
          </a:xfrm>
          <a:prstGeom prst="rect">
            <a:avLst/>
          </a:prstGeom>
        </p:spPr>
      </p:pic>
    </p:spTree>
    <p:extLst>
      <p:ext uri="{BB962C8B-B14F-4D97-AF65-F5344CB8AC3E}">
        <p14:creationId xmlns:p14="http://schemas.microsoft.com/office/powerpoint/2010/main" val="3320975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dirty="0"/>
              <a:t>Getting Started with Artificial Intelligence</a:t>
            </a:r>
            <a:endParaRPr sz="2400" b="1" dirty="0"/>
          </a:p>
        </p:txBody>
      </p:sp>
      <p:pic>
        <p:nvPicPr>
          <p:cNvPr id="3" name="Picture 2">
            <a:extLst>
              <a:ext uri="{FF2B5EF4-FFF2-40B4-BE49-F238E27FC236}">
                <a16:creationId xmlns:a16="http://schemas.microsoft.com/office/drawing/2014/main" id="{DE2D13AE-3F78-A244-B590-E409445FFB4C}"/>
              </a:ext>
            </a:extLst>
          </p:cNvPr>
          <p:cNvPicPr>
            <a:picLocks noChangeAspect="1"/>
          </p:cNvPicPr>
          <p:nvPr/>
        </p:nvPicPr>
        <p:blipFill>
          <a:blip r:embed="rId3"/>
          <a:stretch>
            <a:fillRect/>
          </a:stretch>
        </p:blipFill>
        <p:spPr>
          <a:xfrm>
            <a:off x="2040615" y="1288026"/>
            <a:ext cx="7182043" cy="55699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pic>
        <p:nvPicPr>
          <p:cNvPr id="3" name="Picture 2">
            <a:extLst>
              <a:ext uri="{FF2B5EF4-FFF2-40B4-BE49-F238E27FC236}">
                <a16:creationId xmlns:a16="http://schemas.microsoft.com/office/drawing/2014/main" id="{D6EDD2F1-5EA7-339E-26F1-0DD76114AF8F}"/>
              </a:ext>
            </a:extLst>
          </p:cNvPr>
          <p:cNvPicPr>
            <a:picLocks noChangeAspect="1"/>
          </p:cNvPicPr>
          <p:nvPr/>
        </p:nvPicPr>
        <p:blipFill>
          <a:blip r:embed="rId3"/>
          <a:stretch>
            <a:fillRect/>
          </a:stretch>
        </p:blipFill>
        <p:spPr>
          <a:xfrm>
            <a:off x="952500" y="1604962"/>
            <a:ext cx="10167784" cy="43435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3" name="TextBox 2">
            <a:extLst>
              <a:ext uri="{FF2B5EF4-FFF2-40B4-BE49-F238E27FC236}">
                <a16:creationId xmlns:a16="http://schemas.microsoft.com/office/drawing/2014/main" id="{395FB1DE-A213-8897-0A6F-FDD4898F6014}"/>
              </a:ext>
            </a:extLst>
          </p:cNvPr>
          <p:cNvSpPr txBox="1"/>
          <p:nvPr/>
        </p:nvSpPr>
        <p:spPr>
          <a:xfrm>
            <a:off x="2703870" y="2228671"/>
            <a:ext cx="6007509" cy="1200329"/>
          </a:xfrm>
          <a:prstGeom prst="rect">
            <a:avLst/>
          </a:prstGeom>
          <a:noFill/>
        </p:spPr>
        <p:txBody>
          <a:bodyPr wrap="square" rtlCol="0">
            <a:spAutoFit/>
          </a:bodyPr>
          <a:lstStyle/>
          <a:p>
            <a:r>
              <a:rPr lang="en-US" sz="7200" b="1" u="sng" dirty="0"/>
              <a:t>THANK YOU </a:t>
            </a:r>
            <a:endParaRPr lang="en-IN" sz="7200" b="1" u="sng"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95</TotalTime>
  <Words>1463</Words>
  <Application>Microsoft Office PowerPoint</Application>
  <PresentationFormat>Widescreen</PresentationFormat>
  <Paragraphs>71</Paragraphs>
  <Slides>15</Slides>
  <Notes>13</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PowerPoint Presentation</vt:lpstr>
      <vt:lpstr>PowerPoint Presentation</vt:lpstr>
      <vt:lpstr>PowerPoint Presentation</vt:lpstr>
      <vt:lpstr>PowerPoint Presentation</vt:lpstr>
      <vt:lpstr>Project Overview</vt:lpstr>
      <vt:lpstr>PowerPoint Presentation</vt:lpstr>
      <vt:lpstr>PowerPoint Presentation</vt:lpstr>
      <vt:lpstr>PowerPoint Presentation</vt:lpstr>
      <vt:lpstr>PowerPoint Presentation</vt:lpstr>
      <vt:lpstr>PowerPoint Presentation</vt:lpstr>
      <vt:lpstr>Conclusion   The AI-Powered College Admission Assistant demonstrates how Retrieval-Augmented Generation and IBM watsonx.ai can simplify the college admission process. By combining semantic search with a Large Language Model, the chatbot delivers accurate, context-aware, and reliable responses. The project showcases the practical application of Agentic AI in education and highlights the potential of intelligent assistants to improve access to information while reducing manual effort.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Shreyash Dubey</cp:lastModifiedBy>
  <cp:revision>3</cp:revision>
  <dcterms:created xsi:type="dcterms:W3CDTF">2025-07-08T05:06:56Z</dcterms:created>
  <dcterms:modified xsi:type="dcterms:W3CDTF">2026-07-15T17:19:59Z</dcterms:modified>
</cp:coreProperties>
</file>